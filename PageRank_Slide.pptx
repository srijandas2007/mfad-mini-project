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72049DA-F5B7-7356-4CEA-1713CA98055B}">
          <p14:sldIdLst>
            <p14:sldId id="256"/>
            <p14:sldId id="257"/>
          </p14:sldIdLst>
        </p14:section>
        <p14:section name="Data and Matrices" id="{EDB32F6B-E106-2ABD-B868-26A072B13147}">
          <p14:sldIdLst>
            <p14:sldId id="258"/>
            <p14:sldId id="259"/>
            <p14:sldId id="260"/>
          </p14:sldIdLst>
        </p14:section>
        <p14:section name="Eigen Analysis" id="{8F8AEDDE-35AD-57CE-109E-ECB3426AE547}">
          <p14:sldIdLst>
            <p14:sldId id="261"/>
            <p14:sldId id="262"/>
          </p14:sldIdLst>
        </p14:section>
        <p14:section name="Results" id="{F2EBDA5A-634B-EEE5-8677-3BA18179B523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3D"/>
                </a:solidFill>
                <a:latin typeface="+mn-lt"/>
              </a:defRPr>
            </a:pPr>
            <a:r>
              <a:rPr lang="it-IT" sz="1400" b="0" i="0" u="none" strike="noStrike">
                <a:solidFill>
                  <a:srgbClr val="0F1B3D"/>
                </a:solidFill>
                <a:latin typeface="+mn-lt"/>
              </a:rPr>
              <a:t>Residual per iteration (log scale)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Residual</c:v>
                </c:pt>
              </c:strCache>
            </c:strRef>
          </c:tx>
          <c:spPr>
            <a:ln w="31750" cap="flat">
              <a:solidFill>
                <a:srgbClr val="0E9AA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Sheet1!$A$2:$A$36</c:f>
              <c:strCache>
                <c:ptCount val="3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0.39666666666666672</c:v>
                </c:pt>
                <c:pt idx="1">
                  <c:v>0.24083333333333337</c:v>
                </c:pt>
                <c:pt idx="2">
                  <c:v>0.17741388888888898</c:v>
                </c:pt>
                <c:pt idx="3">
                  <c:v>7.5400902777777792E-2</c:v>
                </c:pt>
                <c:pt idx="4">
                  <c:v>4.0262148726852007E-2</c:v>
                </c:pt>
                <c:pt idx="5">
                  <c:v>2.3746450983796422E-2</c:v>
                </c:pt>
                <c:pt idx="6">
                  <c:v>1.1477451308834902E-2</c:v>
                </c:pt>
                <c:pt idx="7">
                  <c:v>5.8871409730661961E-3</c:v>
                </c:pt>
                <c:pt idx="8">
                  <c:v>4.9087542113518956E-3</c:v>
                </c:pt>
                <c:pt idx="9">
                  <c:v>2.4204209175634206E-3</c:v>
                </c:pt>
                <c:pt idx="10">
                  <c:v>1.5308233969206636E-3</c:v>
                </c:pt>
                <c:pt idx="11">
                  <c:v>9.2437630237669766E-4</c:v>
                </c:pt>
                <c:pt idx="12">
                  <c:v>5.5214614402741835E-4</c:v>
                </c:pt>
                <c:pt idx="13">
                  <c:v>2.96338010278549E-4</c:v>
                </c:pt>
                <c:pt idx="14">
                  <c:v>2.1011412440055666E-4</c:v>
                </c:pt>
                <c:pt idx="15">
                  <c:v>1.0705210621310413E-4</c:v>
                </c:pt>
                <c:pt idx="16">
                  <c:v>7.0773336885474047E-5</c:v>
                </c:pt>
                <c:pt idx="17">
                  <c:v>4.085298935516124E-5</c:v>
                </c:pt>
                <c:pt idx="18">
                  <c:v>2.6184652479069315E-5</c:v>
                </c:pt>
                <c:pt idx="19">
                  <c:v>1.4233025554685752E-5</c:v>
                </c:pt>
                <c:pt idx="20">
                  <c:v>9.6079888154271265E-6</c:v>
                </c:pt>
                <c:pt idx="21">
                  <c:v>5.1416804815601624E-6</c:v>
                </c:pt>
                <c:pt idx="22">
                  <c:v>3.3992220961481801E-6</c:v>
                </c:pt>
                <c:pt idx="23">
                  <c:v>1.8878892158596949E-6</c:v>
                </c:pt>
                <c:pt idx="24">
                  <c:v>1.2365985058160334E-6</c:v>
                </c:pt>
                <c:pt idx="25">
                  <c:v>6.7466488430645288E-7</c:v>
                </c:pt>
                <c:pt idx="26">
                  <c:v>4.4879948724041441E-7</c:v>
                </c:pt>
                <c:pt idx="27">
                  <c:v>2.4372268955796805E-7</c:v>
                </c:pt>
                <c:pt idx="28">
                  <c:v>1.6112777798116262E-7</c:v>
                </c:pt>
                <c:pt idx="29">
                  <c:v>8.8470262199491501E-8</c:v>
                </c:pt>
                <c:pt idx="30">
                  <c:v>5.8327951232839403E-8</c:v>
                </c:pt>
                <c:pt idx="31">
                  <c:v>3.1857421936565267E-8</c:v>
                </c:pt>
                <c:pt idx="32">
                  <c:v>2.1100002758900338E-8</c:v>
                </c:pt>
                <c:pt idx="33">
                  <c:v>1.1508493616418924E-8</c:v>
                </c:pt>
                <c:pt idx="34">
                  <c:v>7.6083929989589905E-9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60-4DA0-BCDD-D893569C5E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F3A6E"/>
                    </a:solidFill>
                    <a:latin typeface="+mn-lt"/>
                  </a:defRPr>
                </a:pPr>
                <a:r>
                  <a:rPr lang="en-IN" sz="1200" b="0" i="0" u="none" strike="noStrike">
                    <a:solidFill>
                      <a:srgbClr val="1F3A6E"/>
                    </a:solidFill>
                    <a:latin typeface="+mn-lt"/>
                  </a:rPr>
                  <a:t>Iteration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3A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5"/>
        <c:noMultiLvlLbl val="1"/>
      </c:catAx>
      <c:valAx>
        <c:axId val="2094734552"/>
        <c:scaling>
          <c:logBase val="10"/>
          <c:orientation val="minMax"/>
          <c:max val="1"/>
          <c:min val="1.0000000000000001E-9"/>
        </c:scaling>
        <c:delete val="0"/>
        <c:axPos val="l"/>
        <c:majorGridlines>
          <c:spPr>
            <a:ln w="9525" cap="flat">
              <a:solidFill>
                <a:srgbClr val="DDE3EF"/>
              </a:solidFill>
              <a:prstDash val="solid"/>
              <a:round/>
            </a:ln>
          </c:spPr>
        </c:majorGridlines>
        <c:numFmt formatCode="0E+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3A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3D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0F1B3D"/>
                </a:solidFill>
                <a:latin typeface="+mn-lt"/>
              </a:rPr>
              <a:t>PageRank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C57-42E3-B80F-70A1EA116147}"/>
              </c:ext>
            </c:extLst>
          </c:dPt>
          <c:dPt>
            <c:idx val="1"/>
            <c:invertIfNegative val="0"/>
            <c:bubble3D val="0"/>
            <c:spPr>
              <a:solidFill>
                <a:srgbClr val="0E9A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57-42E3-B80F-70A1EA116147}"/>
              </c:ext>
            </c:extLst>
          </c:dPt>
          <c:dPt>
            <c:idx val="2"/>
            <c:invertIfNegative val="0"/>
            <c:bubble3D val="0"/>
            <c:spPr>
              <a:solidFill>
                <a:srgbClr val="0E9A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C57-42E3-B80F-70A1EA116147}"/>
              </c:ext>
            </c:extLst>
          </c:dPt>
          <c:dPt>
            <c:idx val="3"/>
            <c:invertIfNegative val="0"/>
            <c:bubble3D val="0"/>
            <c:spPr>
              <a:solidFill>
                <a:srgbClr val="0E9A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C57-42E3-B80F-70A1EA116147}"/>
              </c:ext>
            </c:extLst>
          </c:dPt>
          <c:dPt>
            <c:idx val="4"/>
            <c:invertIfNegative val="0"/>
            <c:bubble3D val="0"/>
            <c:spPr>
              <a:solidFill>
                <a:srgbClr val="0E9A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C57-42E3-B80F-70A1EA116147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B3D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Page 0</c:v>
                </c:pt>
                <c:pt idx="1">
                  <c:v>Page 2</c:v>
                </c:pt>
                <c:pt idx="2">
                  <c:v>Page 4</c:v>
                </c:pt>
                <c:pt idx="3">
                  <c:v>Page 1</c:v>
                </c:pt>
                <c:pt idx="4">
                  <c:v>Page 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0.27551999999999999</c:v>
                </c:pt>
                <c:pt idx="1">
                  <c:v>0.27212999999999998</c:v>
                </c:pt>
                <c:pt idx="2">
                  <c:v>0.19814000000000001</c:v>
                </c:pt>
                <c:pt idx="3">
                  <c:v>0.14710000000000001</c:v>
                </c:pt>
                <c:pt idx="4">
                  <c:v>0.1071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C57-42E3-B80F-70A1EA1161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3A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5"/>
          <c:min val="0"/>
        </c:scaling>
        <c:delete val="0"/>
        <c:axPos val="l"/>
        <c:majorGridlines>
          <c:spPr>
            <a:ln w="9525" cap="flat">
              <a:solidFill>
                <a:srgbClr val="DDE3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3A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1807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we rank web pages using the dominant eigenvector of the Google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deck follows the guideline workflow: start with real-world data, find structure and patterns, end with an application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0 links to 1 and 2; page 1 to 2; page 2 to 0, 3 and 4; page 3 to 4; page 4 to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column holds the probabilities of moving from that page to every other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Teleportation removes dead ends and makes every entry positive, so Perron-Frobenius applies.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np.linalg.eig gives the eigenvalues; we pick the one closest to 1 and normalise its eigenvector to sum to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simulates one move of the random surfer. The residual drops roughly by a factor of 0.6 per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0 is highest because it receives links from pages 2 and 4. Page 3 is lowest: its only in-link comes from page 2, which splits its vote three 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script runs in the notebook. These are the lines that carry the linear algebra.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is an eigenvector problem: the steady state of the surfer is the dominant eigenvector of 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484632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017520"/>
            <a:ext cx="48463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44456" y="-90836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Eigenvalues &amp; Google PageRank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244456" y="1980655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Linear Algebra Mini Project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UE25MA242A · PES University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Srijan Das-PES1UG25AM405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Sravya Hindupur-PES1UG25AM403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Sneh Vachhani-PES1UG25AM399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Tanishk Agarwal-PES1UG25AM424</a:t>
            </a:r>
          </a:p>
          <a:p>
            <a:pPr algn="l"/>
            <a:endParaRPr lang="en-US" sz="1800" dirty="0"/>
          </a:p>
        </p:txBody>
      </p:sp>
      <p:sp>
        <p:nvSpPr>
          <p:cNvPr id="4" name="edge-0-1"/>
          <p:cNvSpPr/>
          <p:nvPr/>
        </p:nvSpPr>
        <p:spPr>
          <a:xfrm>
            <a:off x="7316627" y="1538905"/>
            <a:ext cx="758850" cy="551337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5" name="edge-0-2"/>
          <p:cNvSpPr/>
          <p:nvPr/>
        </p:nvSpPr>
        <p:spPr>
          <a:xfrm>
            <a:off x="7156214" y="1606553"/>
            <a:ext cx="577269" cy="1776651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6" name="edge-1-2"/>
          <p:cNvSpPr/>
          <p:nvPr/>
        </p:nvSpPr>
        <p:spPr>
          <a:xfrm flipH="1">
            <a:off x="7914325" y="2451563"/>
            <a:ext cx="289855" cy="89208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7" name="edge-2-0"/>
          <p:cNvSpPr/>
          <p:nvPr/>
        </p:nvSpPr>
        <p:spPr>
          <a:xfrm flipH="1" flipV="1">
            <a:off x="7283616" y="1584387"/>
            <a:ext cx="577269" cy="1776651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8" name="edge-2-3"/>
          <p:cNvSpPr/>
          <p:nvPr/>
        </p:nvSpPr>
        <p:spPr>
          <a:xfrm flipH="1">
            <a:off x="6672469" y="3577703"/>
            <a:ext cx="93799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9" name="edge-2-4"/>
          <p:cNvSpPr/>
          <p:nvPr/>
        </p:nvSpPr>
        <p:spPr>
          <a:xfrm flipH="1" flipV="1">
            <a:off x="6189163" y="2330656"/>
            <a:ext cx="1511309" cy="109803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0" name="edge-3-4"/>
          <p:cNvSpPr/>
          <p:nvPr/>
        </p:nvSpPr>
        <p:spPr>
          <a:xfrm flipH="1" flipV="1">
            <a:off x="6066112" y="2468956"/>
            <a:ext cx="289855" cy="89208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1" name="edge-4-0"/>
          <p:cNvSpPr/>
          <p:nvPr/>
        </p:nvSpPr>
        <p:spPr>
          <a:xfrm flipV="1">
            <a:off x="6174368" y="1549654"/>
            <a:ext cx="758850" cy="551337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2" name="node-0"/>
          <p:cNvSpPr txBox="1"/>
          <p:nvPr/>
        </p:nvSpPr>
        <p:spPr>
          <a:xfrm>
            <a:off x="6858000" y="1051560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</a:t>
            </a:r>
            <a:endParaRPr lang="en-US" sz="1800" dirty="0"/>
          </a:p>
        </p:txBody>
      </p:sp>
      <p:sp>
        <p:nvSpPr>
          <p:cNvPr id="13" name="node-1"/>
          <p:cNvSpPr txBox="1"/>
          <p:nvPr/>
        </p:nvSpPr>
        <p:spPr>
          <a:xfrm>
            <a:off x="8075505" y="1936129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4" name="node-2"/>
          <p:cNvSpPr txBox="1"/>
          <p:nvPr/>
        </p:nvSpPr>
        <p:spPr>
          <a:xfrm>
            <a:off x="7610459" y="3367391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node-3"/>
          <p:cNvSpPr txBox="1"/>
          <p:nvPr/>
        </p:nvSpPr>
        <p:spPr>
          <a:xfrm>
            <a:off x="6105541" y="3367391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node-4"/>
          <p:cNvSpPr txBox="1"/>
          <p:nvPr/>
        </p:nvSpPr>
        <p:spPr>
          <a:xfrm>
            <a:off x="5640495" y="1936129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Project Workflow</a:t>
            </a:r>
            <a:endParaRPr lang="en-US" sz="3600" dirty="0"/>
          </a:p>
        </p:txBody>
      </p:sp>
      <p:sp>
        <p:nvSpPr>
          <p:cNvPr id="3" name="card-1"/>
          <p:cNvSpPr/>
          <p:nvPr/>
        </p:nvSpPr>
        <p:spPr>
          <a:xfrm>
            <a:off x="457200" y="132588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num-1"/>
          <p:cNvSpPr txBox="1"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Real-World Data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Five web pages and their links form a graph. The graph becomes a 5×5 adjacency matrix, then a column-stochastic transition matrix M.</a:t>
            </a:r>
            <a:endParaRPr lang="en-US" sz="1400" dirty="0"/>
          </a:p>
        </p:txBody>
      </p:sp>
      <p:sp>
        <p:nvSpPr>
          <p:cNvPr id="7" name="card-2"/>
          <p:cNvSpPr/>
          <p:nvPr/>
        </p:nvSpPr>
        <p:spPr>
          <a:xfrm>
            <a:off x="3291840" y="132588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8" name="num-2"/>
          <p:cNvSpPr txBox="1"/>
          <p:nvPr/>
        </p:nvSpPr>
        <p:spPr>
          <a:xfrm>
            <a:off x="352044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Eigen Patterns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7432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Damping d = 0.85 turns M into the Google matrix G. The eigenvalues and eigenvectors of G reveal the steady state at λ = 1.</a:t>
            </a:r>
            <a:endParaRPr lang="en-US" sz="1400" dirty="0"/>
          </a:p>
        </p:txBody>
      </p:sp>
      <p:sp>
        <p:nvSpPr>
          <p:cNvPr id="11" name="card-3"/>
          <p:cNvSpPr/>
          <p:nvPr/>
        </p:nvSpPr>
        <p:spPr>
          <a:xfrm>
            <a:off x="6126480" y="132588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2" name="num-3"/>
          <p:cNvSpPr txBox="1"/>
          <p:nvPr/>
        </p:nvSpPr>
        <p:spPr>
          <a:xfrm>
            <a:off x="635508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Final Ranking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7432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Power iteration v(k+1) = G·v(k) simulates a random surfer. It converges in 35 steps to the PageRank ranking.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The Web Graph</a:t>
            </a:r>
            <a:endParaRPr lang="en-US" sz="3600" dirty="0"/>
          </a:p>
        </p:txBody>
      </p:sp>
      <p:sp>
        <p:nvSpPr>
          <p:cNvPr id="3" name="edge-0-1"/>
          <p:cNvSpPr/>
          <p:nvPr/>
        </p:nvSpPr>
        <p:spPr>
          <a:xfrm>
            <a:off x="2836067" y="1813225"/>
            <a:ext cx="802332" cy="582929"/>
          </a:xfrm>
          <a:prstGeom prst="line">
            <a:avLst/>
          </a:prstGeom>
          <a:noFill/>
          <a:ln w="22225">
            <a:solidFill>
              <a:srgbClr val="1F3A6E"/>
            </a:solidFill>
            <a:prstDash val="solid"/>
            <a:tailEnd type="triangle"/>
          </a:ln>
        </p:spPr>
      </p:sp>
      <p:sp>
        <p:nvSpPr>
          <p:cNvPr id="4" name="edge-0-2"/>
          <p:cNvSpPr/>
          <p:nvPr/>
        </p:nvSpPr>
        <p:spPr>
          <a:xfrm>
            <a:off x="2675654" y="1880873"/>
            <a:ext cx="604142" cy="1859359"/>
          </a:xfrm>
          <a:prstGeom prst="line">
            <a:avLst/>
          </a:prstGeom>
          <a:noFill/>
          <a:ln w="22225">
            <a:solidFill>
              <a:srgbClr val="1F3A6E"/>
            </a:solidFill>
            <a:prstDash val="solid"/>
            <a:tailEnd type="triangle"/>
          </a:ln>
        </p:spPr>
      </p:sp>
      <p:sp>
        <p:nvSpPr>
          <p:cNvPr id="5" name="edge-1-2"/>
          <p:cNvSpPr/>
          <p:nvPr/>
        </p:nvSpPr>
        <p:spPr>
          <a:xfrm flipH="1">
            <a:off x="3460638" y="2757475"/>
            <a:ext cx="306464" cy="943198"/>
          </a:xfrm>
          <a:prstGeom prst="line">
            <a:avLst/>
          </a:prstGeom>
          <a:noFill/>
          <a:ln w="22225">
            <a:solidFill>
              <a:srgbClr val="1F3A6E"/>
            </a:solidFill>
            <a:prstDash val="solid"/>
            <a:tailEnd type="triangle"/>
          </a:ln>
        </p:spPr>
      </p:sp>
      <p:sp>
        <p:nvSpPr>
          <p:cNvPr id="6" name="edge-2-0"/>
          <p:cNvSpPr/>
          <p:nvPr/>
        </p:nvSpPr>
        <p:spPr>
          <a:xfrm flipH="1" flipV="1">
            <a:off x="2803056" y="1858707"/>
            <a:ext cx="604142" cy="1859359"/>
          </a:xfrm>
          <a:prstGeom prst="line">
            <a:avLst/>
          </a:prstGeom>
          <a:noFill/>
          <a:ln w="22225">
            <a:solidFill>
              <a:srgbClr val="1F3A6E"/>
            </a:solidFill>
            <a:prstDash val="solid"/>
            <a:tailEnd type="triangle"/>
          </a:ln>
        </p:spPr>
      </p:sp>
      <p:sp>
        <p:nvSpPr>
          <p:cNvPr id="7" name="edge-2-3"/>
          <p:cNvSpPr/>
          <p:nvPr/>
        </p:nvSpPr>
        <p:spPr>
          <a:xfrm flipH="1">
            <a:off x="2165035" y="3934731"/>
            <a:ext cx="991737" cy="0"/>
          </a:xfrm>
          <a:prstGeom prst="line">
            <a:avLst/>
          </a:prstGeom>
          <a:noFill/>
          <a:ln w="22225">
            <a:solidFill>
              <a:srgbClr val="1F3A6E"/>
            </a:solidFill>
            <a:prstDash val="solid"/>
            <a:tailEnd type="triangle"/>
          </a:ln>
        </p:spPr>
      </p:sp>
      <p:sp>
        <p:nvSpPr>
          <p:cNvPr id="8" name="edge-2-4"/>
          <p:cNvSpPr/>
          <p:nvPr/>
        </p:nvSpPr>
        <p:spPr>
          <a:xfrm flipH="1" flipV="1">
            <a:off x="1665121" y="2636568"/>
            <a:ext cx="1581665" cy="1149147"/>
          </a:xfrm>
          <a:prstGeom prst="line">
            <a:avLst/>
          </a:prstGeom>
          <a:noFill/>
          <a:ln w="22225">
            <a:solidFill>
              <a:srgbClr val="1F3A6E"/>
            </a:solidFill>
            <a:prstDash val="solid"/>
            <a:tailEnd type="triangle"/>
          </a:ln>
        </p:spPr>
      </p:sp>
      <p:sp>
        <p:nvSpPr>
          <p:cNvPr id="9" name="edge-3-4"/>
          <p:cNvSpPr/>
          <p:nvPr/>
        </p:nvSpPr>
        <p:spPr>
          <a:xfrm flipH="1" flipV="1">
            <a:off x="1542069" y="2774868"/>
            <a:ext cx="306464" cy="943198"/>
          </a:xfrm>
          <a:prstGeom prst="line">
            <a:avLst/>
          </a:prstGeom>
          <a:noFill/>
          <a:ln w="22225">
            <a:solidFill>
              <a:srgbClr val="1F3A6E"/>
            </a:solidFill>
            <a:prstDash val="solid"/>
            <a:tailEnd type="triangle"/>
          </a:ln>
        </p:spPr>
      </p:sp>
      <p:sp>
        <p:nvSpPr>
          <p:cNvPr id="10" name="edge-4-0"/>
          <p:cNvSpPr/>
          <p:nvPr/>
        </p:nvSpPr>
        <p:spPr>
          <a:xfrm flipV="1">
            <a:off x="1650326" y="1823974"/>
            <a:ext cx="802332" cy="582929"/>
          </a:xfrm>
          <a:prstGeom prst="line">
            <a:avLst/>
          </a:prstGeom>
          <a:noFill/>
          <a:ln w="22225">
            <a:solidFill>
              <a:srgbClr val="1F3A6E"/>
            </a:solidFill>
            <a:prstDash val="solid"/>
            <a:tailEnd type="triangle"/>
          </a:ln>
        </p:spPr>
      </p:sp>
      <p:sp>
        <p:nvSpPr>
          <p:cNvPr id="11" name="node-0"/>
          <p:cNvSpPr txBox="1"/>
          <p:nvPr/>
        </p:nvSpPr>
        <p:spPr>
          <a:xfrm>
            <a:off x="2377440" y="1325880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</a:t>
            </a:r>
            <a:endParaRPr lang="en-US" sz="1800" dirty="0"/>
          </a:p>
        </p:txBody>
      </p:sp>
      <p:sp>
        <p:nvSpPr>
          <p:cNvPr id="12" name="node-1"/>
          <p:cNvSpPr txBox="1"/>
          <p:nvPr/>
        </p:nvSpPr>
        <p:spPr>
          <a:xfrm>
            <a:off x="3638427" y="2242041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3" name="node-2"/>
          <p:cNvSpPr txBox="1"/>
          <p:nvPr/>
        </p:nvSpPr>
        <p:spPr>
          <a:xfrm>
            <a:off x="3156773" y="3724419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node-3"/>
          <p:cNvSpPr txBox="1"/>
          <p:nvPr/>
        </p:nvSpPr>
        <p:spPr>
          <a:xfrm>
            <a:off x="1598107" y="3724419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node-4"/>
          <p:cNvSpPr txBox="1"/>
          <p:nvPr/>
        </p:nvSpPr>
        <p:spPr>
          <a:xfrm>
            <a:off x="1116453" y="2242041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25880"/>
          <a:ext cx="3749040" cy="24688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Page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Links to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Out-links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1, 2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0, 3, 4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937760" y="3931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An arrow A → B means page A links to page 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Transition Matrix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Adjacency A (row j = links of page j)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3291840" cy="219456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521208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Transition M (column j = links of page j)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691640"/>
          <a:ext cx="3291840" cy="219456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1/3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1/2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1/2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1/3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1/3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arrow"/>
          <p:cNvSpPr/>
          <p:nvPr/>
        </p:nvSpPr>
        <p:spPr>
          <a:xfrm>
            <a:off x="4023360" y="2606040"/>
            <a:ext cx="1097280" cy="4572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3840480" y="3154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Transpose and divide by out-links</a:t>
            </a:r>
            <a:endParaRPr lang="en-US" sz="1200" dirty="0"/>
          </a:p>
        </p:txBody>
      </p:sp>
      <p:sp>
        <p:nvSpPr>
          <p:cNvPr id="6" name="Text 5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column of M sums to 1, so M describes a random surfer who follows one outgoing link at random.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The Google Matrix</a:t>
            </a:r>
            <a:endParaRPr lang="en-US" sz="3600" dirty="0"/>
          </a:p>
        </p:txBody>
      </p:sp>
      <p:sp>
        <p:nvSpPr>
          <p:cNvPr id="3" name="formula"/>
          <p:cNvSpPr txBox="1"/>
          <p:nvPr/>
        </p:nvSpPr>
        <p:spPr>
          <a:xfrm>
            <a:off x="457200" y="1325880"/>
            <a:ext cx="4023360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G = d·M + (1 − d)/N · J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1460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 = 0.85: follow a link with probability 85%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15%: teleport to any page at random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 = 5 pages, J = all-ones matrix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 &gt; 0 everywhere, so the chain has a unique steady state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 with d = 0.85 (3 d.p.)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691640"/>
          <a:ext cx="3931920" cy="2304288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0.313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0.880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0.455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0.455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0.880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0.313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0.313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0.880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Eigenvalues of G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572000" cy="20116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Eigenvalue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Modulus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λ₁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1.000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1.000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λ₂, λ₃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± 0.601 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0.601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λ₄, λ₅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−0.425 ± 0.245 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0.491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next largest modulus is 0.601, below d = 0.85, so errors shrink by about 0.6× per iteration.</a:t>
            </a:r>
            <a:endParaRPr lang="en-US" sz="1400" dirty="0"/>
          </a:p>
        </p:txBody>
      </p:sp>
      <p:sp>
        <p:nvSpPr>
          <p:cNvPr id="5" name="stat-lambda"/>
          <p:cNvSpPr txBox="1"/>
          <p:nvPr/>
        </p:nvSpPr>
        <p:spPr>
          <a:xfrm>
            <a:off x="5486400" y="1371600"/>
            <a:ext cx="3200400" cy="2011680"/>
          </a:xfrm>
          <a:prstGeom prst="roundRect">
            <a:avLst>
              <a:gd name="adj" fmla="val 5455"/>
            </a:avLst>
          </a:prstGeom>
          <a:solidFill>
            <a:schemeClr val="tx1"/>
          </a:solidFill>
          <a:ln/>
        </p:spPr>
        <p:txBody>
          <a:bodyPr wrap="square" lIns="2540" tIns="2540" rIns="2540" bIns="254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2"/>
                </a:solidFill>
              </a:rPr>
              <a:t>λ = 1</a:t>
            </a:r>
            <a:endParaRPr lang="en-US" sz="5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dominant eigenvalue, whose eigenvector is the PageRank vector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3611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Perron–Frobenius: for a positive column-stochastic matrix, λ = 1 is simple and every other |λ| &lt; 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Power Iteration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3444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0" y="128016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35</a:t>
            </a:r>
            <a:endParaRPr lang="en-US" sz="60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iterations to converge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29260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v(k+1) = G · v(k)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Start: uniform v(0), every entry 0.2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Stop when the 1-norm change is below 10⁻⁸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Final PageRank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34440"/>
          <a:ext cx="47548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ank-1"/>
          <p:cNvSpPr txBox="1"/>
          <p:nvPr/>
        </p:nvSpPr>
        <p:spPr>
          <a:xfrm>
            <a:off x="5486400" y="13258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1325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Page 0</a:t>
            </a:r>
            <a:r>
              <a:rPr lang="en-US" sz="1600" dirty="0">
                <a:solidFill>
                  <a:schemeClr val="tx1"/>
                </a:solidFill>
              </a:rPr>
              <a:t>   0.27552</a:t>
            </a:r>
            <a:endParaRPr lang="en-US" sz="1600" dirty="0"/>
          </a:p>
        </p:txBody>
      </p:sp>
      <p:sp>
        <p:nvSpPr>
          <p:cNvPr id="6" name="rank-2"/>
          <p:cNvSpPr txBox="1"/>
          <p:nvPr/>
        </p:nvSpPr>
        <p:spPr>
          <a:xfrm>
            <a:off x="5486400" y="185623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18562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Page 2</a:t>
            </a:r>
            <a:r>
              <a:rPr lang="en-US" sz="1600" dirty="0">
                <a:solidFill>
                  <a:schemeClr val="tx1"/>
                </a:solidFill>
              </a:rPr>
              <a:t>   0.27213</a:t>
            </a:r>
            <a:endParaRPr lang="en-US" sz="1600" dirty="0"/>
          </a:p>
        </p:txBody>
      </p:sp>
      <p:sp>
        <p:nvSpPr>
          <p:cNvPr id="8" name="rank-3"/>
          <p:cNvSpPr txBox="1"/>
          <p:nvPr/>
        </p:nvSpPr>
        <p:spPr>
          <a:xfrm>
            <a:off x="5486400" y="238658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238658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Page 4</a:t>
            </a:r>
            <a:r>
              <a:rPr lang="en-US" sz="1600" dirty="0">
                <a:solidFill>
                  <a:schemeClr val="tx1"/>
                </a:solidFill>
              </a:rPr>
              <a:t>   0.19814</a:t>
            </a:r>
            <a:endParaRPr lang="en-US" sz="1600" dirty="0"/>
          </a:p>
        </p:txBody>
      </p:sp>
      <p:sp>
        <p:nvSpPr>
          <p:cNvPr id="10" name="rank-4"/>
          <p:cNvSpPr txBox="1"/>
          <p:nvPr/>
        </p:nvSpPr>
        <p:spPr>
          <a:xfrm>
            <a:off x="5486400" y="291693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291693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Page 1</a:t>
            </a:r>
            <a:r>
              <a:rPr lang="en-US" sz="1600" dirty="0">
                <a:solidFill>
                  <a:schemeClr val="tx1"/>
                </a:solidFill>
              </a:rPr>
              <a:t>   0.14710</a:t>
            </a:r>
            <a:endParaRPr lang="en-US" sz="1600" dirty="0"/>
          </a:p>
        </p:txBody>
      </p:sp>
      <p:sp>
        <p:nvSpPr>
          <p:cNvPr id="12" name="rank-5"/>
          <p:cNvSpPr txBox="1"/>
          <p:nvPr/>
        </p:nvSpPr>
        <p:spPr>
          <a:xfrm>
            <a:off x="5486400" y="34472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34472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Page 3</a:t>
            </a:r>
            <a:r>
              <a:rPr lang="en-US" sz="1600" dirty="0">
                <a:solidFill>
                  <a:schemeClr val="tx1"/>
                </a:solidFill>
              </a:rPr>
              <a:t>   0.10710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4023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Eigenvector method and power iteration agree to 5 decimal places.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Python Implementation</a:t>
            </a:r>
            <a:endParaRPr lang="en-US" sz="3600" dirty="0"/>
          </a:p>
        </p:txBody>
      </p:sp>
      <p:sp>
        <p:nvSpPr>
          <p:cNvPr id="3" name="code-panel"/>
          <p:cNvSpPr/>
          <p:nvPr/>
        </p:nvSpPr>
        <p:spPr>
          <a:xfrm>
            <a:off x="457200" y="1280160"/>
            <a:ext cx="5394960" cy="3291840"/>
          </a:xfrm>
          <a:prstGeom prst="roundRect">
            <a:avLst>
              <a:gd name="adj" fmla="val 2778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Key steps (NumPy)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M[:, j] = A[j] / A[j].sum()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d * M + (1 - d) / N * np.ones((N, N))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vals, vecs = np.linalg.eig(G)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= np.real(vecs[:, np.argmin(abs(vals - 1))])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= pr / pr.sum()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np.ones(N) / 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np.linalg.norm(G @ v - v, 1) &gt; 1e-8: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G @ 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 = np.argsort(v)[::-1]</a:t>
            </a:r>
            <a:endParaRPr lang="en-US" sz="1200" dirty="0"/>
          </a:p>
        </p:txBody>
      </p:sp>
      <p:sp>
        <p:nvSpPr>
          <p:cNvPr id="5" name="fn-card-0"/>
          <p:cNvSpPr/>
          <p:nvPr/>
        </p:nvSpPr>
        <p:spPr>
          <a:xfrm>
            <a:off x="6126480" y="128016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09360" y="1325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np.linalg.eig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Eigenvalues and eigenvectors of G</a:t>
            </a:r>
            <a:endParaRPr lang="en-US" sz="1400" dirty="0"/>
          </a:p>
        </p:txBody>
      </p:sp>
      <p:sp>
        <p:nvSpPr>
          <p:cNvPr id="7" name="fn-card-1"/>
          <p:cNvSpPr/>
          <p:nvPr/>
        </p:nvSpPr>
        <p:spPr>
          <a:xfrm>
            <a:off x="6126480" y="242316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2468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@ 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step of the random surfer</a:t>
            </a:r>
            <a:endParaRPr lang="en-US" sz="1400" dirty="0"/>
          </a:p>
        </p:txBody>
      </p:sp>
      <p:sp>
        <p:nvSpPr>
          <p:cNvPr id="9" name="fn-card-2"/>
          <p:cNvSpPr/>
          <p:nvPr/>
        </p:nvSpPr>
        <p:spPr>
          <a:xfrm>
            <a:off x="6126480" y="356616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3611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np.argsort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Sorts pages into the final ranking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λ = 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Dominant eigenvalue of G; its eigenvector is the PageRank vector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286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Power iterations to reach 10⁻⁸ accuracy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Page 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286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Highest score at 0.27552; Page 3 lowest at 0.10710</a:t>
            </a:r>
            <a:endParaRPr lang="en-US" sz="1400" dirty="0"/>
          </a:p>
        </p:txBody>
      </p:sp>
      <p:sp>
        <p:nvSpPr>
          <p:cNvPr id="9" name="ranking-banner"/>
          <p:cNvSpPr txBox="1"/>
          <p:nvPr/>
        </p:nvSpPr>
        <p:spPr>
          <a:xfrm>
            <a:off x="457200" y="3566160"/>
            <a:ext cx="82296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Ranking: Page 0 &gt; Page 2 &gt; Page 4 &gt; Page 1 &gt; Page 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eRank">
  <a:themeElements>
    <a:clrScheme name="PageRank">
      <a:dk1>
        <a:srgbClr val="0F1B3D"/>
      </a:dk1>
      <a:lt1>
        <a:srgbClr val="FFFFFF"/>
      </a:lt1>
      <a:dk2>
        <a:srgbClr val="1F3A6E"/>
      </a:dk2>
      <a:lt2>
        <a:srgbClr val="EEF2FA"/>
      </a:lt2>
      <a:accent1>
        <a:srgbClr val="0E9AA7"/>
      </a:accent1>
      <a:accent2>
        <a:srgbClr val="F5A623"/>
      </a:accent2>
      <a:accent3>
        <a:srgbClr val="E4572E"/>
      </a:accent3>
      <a:accent4>
        <a:srgbClr val="5B6EE1"/>
      </a:accent4>
      <a:accent5>
        <a:srgbClr val="4CAF7A"/>
      </a:accent5>
      <a:accent6>
        <a:srgbClr val="8A94A6"/>
      </a:accent6>
      <a:hlink>
        <a:srgbClr val="0E9AA7"/>
      </a:hlink>
      <a:folHlink>
        <a:srgbClr val="8A94A6"/>
      </a:folHlink>
    </a:clrScheme>
    <a:fontScheme name="PageRa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1007</Words>
  <Application>Microsoft Office PowerPoint</Application>
  <PresentationFormat>On-screen Show (16:9)</PresentationFormat>
  <Paragraphs>261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PageRank</vt:lpstr>
      <vt:lpstr>Eigenvalues &amp; Google PageRank</vt:lpstr>
      <vt:lpstr>Project Workflow</vt:lpstr>
      <vt:lpstr>The Web Graph</vt:lpstr>
      <vt:lpstr>Transition Matrix</vt:lpstr>
      <vt:lpstr>The Google Matrix</vt:lpstr>
      <vt:lpstr>Eigenvalues of G</vt:lpstr>
      <vt:lpstr>Power Iteration</vt:lpstr>
      <vt:lpstr>Final PageRank</vt:lpstr>
      <vt:lpstr>Python Implementation</vt:lpstr>
      <vt:lpstr>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Eigenvalues and Google PageRank</dc:title>
  <dc:subject>PptxGenJS Presentation</dc:subject>
  <dc:creator>PptxGenJS</dc:creator>
  <cp:lastModifiedBy>Srijan Das</cp:lastModifiedBy>
  <cp:revision>2</cp:revision>
  <dcterms:created xsi:type="dcterms:W3CDTF">2026-10-10T15:34:29Z</dcterms:created>
  <dcterms:modified xsi:type="dcterms:W3CDTF">2026-10-11T06:12:40Z</dcterms:modified>
</cp:coreProperties>
</file>